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맑은 고딕" panose="020B0503020000020004" pitchFamily="50" charset="-127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aleway" pitchFamily="2" charset="0"/>
      <p:regular r:id="rId20"/>
    </p:embeddedFont>
    <p:embeddedFont>
      <p:font typeface="Raleway Light" pitchFamily="2" charset="0"/>
      <p:regular r:id="rId21"/>
    </p:embeddedFont>
    <p:embeddedFont>
      <p:font typeface="Roboto" panose="02000000000000000000" pitchFamily="2" charset="0"/>
      <p:regular r:id="rId22"/>
    </p:embeddedFont>
    <p:embeddedFont>
      <p:font typeface="Roboto Bold" panose="02000000000000000000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743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스마트워치 AI 영양 분석 기능</a:t>
            </a:r>
            <a:endParaRPr lang="ko-KR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손목 위의 AI가 당신의 식사를 분석하고, 더 건강한 삶으로 안내합니다.</a:t>
            </a:r>
            <a:endParaRPr lang="ko-KR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5AF7C-1E7B-4900-BF03-FA3F3F233279}"/>
              </a:ext>
            </a:extLst>
          </p:cNvPr>
          <p:cNvSpPr txBox="1"/>
          <p:nvPr/>
        </p:nvSpPr>
        <p:spPr>
          <a:xfrm>
            <a:off x="5384800" y="4605867"/>
            <a:ext cx="1737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계발자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박서현</a:t>
            </a:r>
            <a:endParaRPr lang="en-US" altLang="ko-KR" dirty="0"/>
          </a:p>
          <a:p>
            <a:r>
              <a:rPr lang="en-US" altLang="ko-KR" dirty="0"/>
              <a:t>2026.09.22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9083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음식 사진 한 장으로 시작하세요</a:t>
            </a:r>
            <a:endParaRPr lang="ko-KR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164953"/>
            <a:ext cx="945035" cy="11340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5517" y="235396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📸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촬영</a:t>
            </a:r>
            <a:endParaRPr lang="ko-KR" sz="1850" dirty="0"/>
          </a:p>
        </p:txBody>
      </p:sp>
      <p:sp>
        <p:nvSpPr>
          <p:cNvPr id="6" name="Text 2"/>
          <p:cNvSpPr/>
          <p:nvPr/>
        </p:nvSpPr>
        <p:spPr>
          <a:xfrm>
            <a:off x="1795517" y="2762647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스마트워치 카메라로 음식 사진 촬영</a:t>
            </a:r>
            <a:endParaRPr lang="ko-KR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299023"/>
            <a:ext cx="945035" cy="1134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95517" y="348803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🤖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AI 분석</a:t>
            </a:r>
            <a:endParaRPr lang="ko-KR" sz="1850" dirty="0"/>
          </a:p>
        </p:txBody>
      </p:sp>
      <p:sp>
        <p:nvSpPr>
          <p:cNvPr id="9" name="Text 4"/>
          <p:cNvSpPr/>
          <p:nvPr/>
        </p:nvSpPr>
        <p:spPr>
          <a:xfrm>
            <a:off x="1795517" y="3896717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칼로리와 영양 정보 즉시 분석</a:t>
            </a:r>
            <a:endParaRPr lang="ko-KR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433094"/>
            <a:ext cx="945035" cy="11340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95517" y="462210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🏃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운동 제안</a:t>
            </a:r>
            <a:endParaRPr lang="ko-KR" sz="1850" dirty="0"/>
          </a:p>
        </p:txBody>
      </p:sp>
      <p:sp>
        <p:nvSpPr>
          <p:cNvPr id="12" name="Text 6"/>
          <p:cNvSpPr/>
          <p:nvPr/>
        </p:nvSpPr>
        <p:spPr>
          <a:xfrm>
            <a:off x="1795517" y="5030788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맞춤 운동 계획 자동 제안</a:t>
            </a:r>
            <a:endParaRPr lang="ko-KR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69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AI가 인식하는 정보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251" y="1853704"/>
            <a:ext cx="3504219" cy="12155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48255" y="2068116"/>
            <a:ext cx="29738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🔥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칼로리</a:t>
            </a:r>
            <a:endParaRPr lang="ko-KR" sz="1850" dirty="0"/>
          </a:p>
        </p:txBody>
      </p:sp>
      <p:sp>
        <p:nvSpPr>
          <p:cNvPr id="6" name="Text 2"/>
          <p:cNvSpPr/>
          <p:nvPr/>
        </p:nvSpPr>
        <p:spPr>
          <a:xfrm>
            <a:off x="8348255" y="2552402"/>
            <a:ext cx="29738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음식 종류와 양 기반 정확한 계산</a:t>
            </a:r>
            <a:endParaRPr lang="ko-KR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251" y="3258245"/>
            <a:ext cx="3504219" cy="12155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48255" y="3472656"/>
            <a:ext cx="29738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💊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영양소</a:t>
            </a:r>
            <a:endParaRPr lang="ko-KR" sz="1850" dirty="0"/>
          </a:p>
        </p:txBody>
      </p:sp>
      <p:sp>
        <p:nvSpPr>
          <p:cNvPr id="9" name="Text 4"/>
          <p:cNvSpPr/>
          <p:nvPr/>
        </p:nvSpPr>
        <p:spPr>
          <a:xfrm>
            <a:off x="8348255" y="3956943"/>
            <a:ext cx="29738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단백질, 탄수화물, 지방, 비타민 분석</a:t>
            </a:r>
            <a:endParaRPr lang="ko-KR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251" y="4662785"/>
            <a:ext cx="3504219" cy="12155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48255" y="4877197"/>
            <a:ext cx="29738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알레르기</a:t>
            </a:r>
            <a:endParaRPr lang="ko-KR" sz="1850" dirty="0"/>
          </a:p>
        </p:txBody>
      </p:sp>
      <p:sp>
        <p:nvSpPr>
          <p:cNvPr id="12" name="Text 6"/>
          <p:cNvSpPr/>
          <p:nvPr/>
        </p:nvSpPr>
        <p:spPr>
          <a:xfrm>
            <a:off x="8348255" y="5361484"/>
            <a:ext cx="29738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포함된 주요 성분 자동 감지</a:t>
            </a:r>
            <a:endParaRPr lang="ko-KR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실시간 칼로리 추적</a:t>
            </a:r>
            <a:endParaRPr lang="ko-KR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하루 식사를 한눈에</a:t>
            </a:r>
            <a:endParaRPr lang="ko-KR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5377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아침부터 저녁까지 섭취한 칼로리가 실시간으로 누적됩니다. 목표 칼로리 대비 진행 상황을 시각적으로 확인하고, 식사 시간별 영양 밸런스를 분석하여 균형 잡힌 하루를 설계하세요.</a:t>
            </a:r>
            <a:endParaRPr lang="ko-KR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531096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하루 섭취 칼로리 누적 표시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목표 칼로리 대비 진행 상황 시각화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식사 시간별 영양 밸런스 분석</a:t>
            </a:r>
            <a:endParaRPr lang="ko-KR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1993106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84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맞춤형 운동 제안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77157"/>
            <a:ext cx="2009923" cy="2009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42337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🏃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조깅</a:t>
            </a:r>
            <a:endParaRPr lang="ko-KR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832052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30분 · 약 280 kcal 소모</a:t>
            </a:r>
            <a:endParaRPr lang="ko-KR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177157"/>
            <a:ext cx="2009923" cy="2009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42337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🧘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요가</a:t>
            </a:r>
            <a:endParaRPr lang="ko-KR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832052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45분 · 약 200 kcal 소모</a:t>
            </a:r>
            <a:endParaRPr lang="ko-KR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177157"/>
            <a:ext cx="2009923" cy="2009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42337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💪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근력운동</a:t>
            </a:r>
            <a:endParaRPr lang="ko-KR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832052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40분 · 약 320 kcal 소모</a:t>
            </a:r>
            <a:endParaRPr lang="ko-KR" sz="1450" dirty="0"/>
          </a:p>
        </p:txBody>
      </p:sp>
      <p:sp>
        <p:nvSpPr>
          <p:cNvPr id="12" name="Text 7"/>
          <p:cNvSpPr/>
          <p:nvPr/>
        </p:nvSpPr>
        <p:spPr>
          <a:xfrm>
            <a:off x="356682" y="534709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섭취한 칼로리에 맞는 운동량을 자동 계산하여 소요 시간과 예상 소모 칼로리를 함께 제공합니다.</a:t>
            </a:r>
            <a:endParaRPr lang="ko-KR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건강 목표 달성</a:t>
            </a:r>
            <a:endParaRPr lang="ko-KR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9871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나만의 목표를 설정하세요</a:t>
            </a:r>
            <a:endParaRPr lang="ko-KR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401219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ko-KR" alt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AI가 개인 목표에 따라 일일 칼로리 목표를 자동으로 조정합니다. 매주 상세한 진행 상황 리포트를 통해 목표에 얼마나 가까워졌는지 한눈에 확인하세요.</a:t>
            </a:r>
            <a:endParaRPr lang="ko-KR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682504"/>
            <a:ext cx="531551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ko-KR" alt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체중 감량 · 근육 증가 · 체중 유지 선택</a:t>
            </a:r>
            <a:endParaRPr lang="ko-KR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ko-KR" alt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일일 칼로리 목표 자동 조정</a:t>
            </a:r>
            <a:endParaRPr lang="ko-KR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ko-KR" alt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주간 진행 상황 리포트 제공</a:t>
            </a:r>
            <a:endParaRPr lang="ko-KR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443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스마트한 생활 습관</a:t>
            </a:r>
            <a:endParaRPr lang="ko-KR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518470"/>
            <a:ext cx="3053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71383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🍽️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식사 패턴 분석</a:t>
            </a:r>
            <a:endParaRPr lang="ko-KR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122513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반복되는 식습관을 파악하고 개선점을 제안합니다.</a:t>
            </a:r>
            <a:endParaRPr lang="ko-KR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518470"/>
            <a:ext cx="3053976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71383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🔔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영양 불균형 경고</a:t>
            </a:r>
            <a:endParaRPr lang="ko-KR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3122513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특정 영양소 과부족 시 즉각 알림을 보냅니다.</a:t>
            </a:r>
            <a:endParaRPr lang="ko-KR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11172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30708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⚖️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완벽한 조화</a:t>
            </a:r>
            <a:endParaRPr lang="ko-KR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71576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운동과 식단이 함께 설계되어 시너지를 만듭니다.</a:t>
            </a:r>
            <a:endParaRPr lang="ko-KR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686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지금 바로 시작하세요</a:t>
            </a:r>
            <a:endParaRPr lang="ko-KR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80282"/>
            <a:ext cx="6938590" cy="3931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6570" y="1348482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더 건강한 생활의 첫 걸음</a:t>
            </a:r>
            <a:endParaRPr lang="ko-KR" sz="1450" dirty="0"/>
          </a:p>
        </p:txBody>
      </p:sp>
      <p:sp>
        <p:nvSpPr>
          <p:cNvPr id="5" name="Text 2"/>
          <p:cNvSpPr/>
          <p:nvPr/>
        </p:nvSpPr>
        <p:spPr>
          <a:xfrm>
            <a:off x="7966570" y="1694458"/>
            <a:ext cx="3569901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스마트워치 하나로 식단과 운동을 완벽하게 관리하세요. AI가 당신 곁에서 매 끼니마다 최선의 선택을 돕습니다.</a:t>
            </a:r>
            <a:endParaRPr lang="ko-KR" sz="1150" dirty="0"/>
          </a:p>
        </p:txBody>
      </p:sp>
      <p:sp>
        <p:nvSpPr>
          <p:cNvPr id="6" name="Text 3"/>
          <p:cNvSpPr/>
          <p:nvPr/>
        </p:nvSpPr>
        <p:spPr>
          <a:xfrm>
            <a:off x="7966570" y="2244923"/>
            <a:ext cx="295268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966570" y="2476798"/>
            <a:ext cx="35699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7966570" y="2588716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앱 다운로드</a:t>
            </a:r>
            <a:endParaRPr lang="ko-KR" sz="1450" dirty="0"/>
          </a:p>
        </p:txBody>
      </p:sp>
      <p:sp>
        <p:nvSpPr>
          <p:cNvPr id="9" name="Text 6"/>
          <p:cNvSpPr/>
          <p:nvPr/>
        </p:nvSpPr>
        <p:spPr>
          <a:xfrm>
            <a:off x="7966570" y="2934692"/>
            <a:ext cx="356990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스마트워치 앱스토어에서 설치</a:t>
            </a:r>
            <a:endParaRPr lang="ko-KR" sz="1150" dirty="0"/>
          </a:p>
        </p:txBody>
      </p:sp>
      <p:sp>
        <p:nvSpPr>
          <p:cNvPr id="10" name="Text 7"/>
          <p:cNvSpPr/>
          <p:nvPr/>
        </p:nvSpPr>
        <p:spPr>
          <a:xfrm>
            <a:off x="7966570" y="3371056"/>
            <a:ext cx="295268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66570" y="3602930"/>
            <a:ext cx="35699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9"/>
          <p:cNvSpPr/>
          <p:nvPr/>
        </p:nvSpPr>
        <p:spPr>
          <a:xfrm>
            <a:off x="7966570" y="3714849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첫 사진 촬영</a:t>
            </a:r>
            <a:endParaRPr lang="ko-KR" sz="1450" dirty="0"/>
          </a:p>
        </p:txBody>
      </p:sp>
      <p:sp>
        <p:nvSpPr>
          <p:cNvPr id="13" name="Text 10"/>
          <p:cNvSpPr/>
          <p:nvPr/>
        </p:nvSpPr>
        <p:spPr>
          <a:xfrm>
            <a:off x="7966570" y="4060825"/>
            <a:ext cx="356990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오늘 식사를 찍어 AI 분석 경험</a:t>
            </a:r>
            <a:endParaRPr lang="ko-KR" sz="1150" dirty="0"/>
          </a:p>
        </p:txBody>
      </p:sp>
      <p:sp>
        <p:nvSpPr>
          <p:cNvPr id="14" name="Text 11"/>
          <p:cNvSpPr/>
          <p:nvPr/>
        </p:nvSpPr>
        <p:spPr>
          <a:xfrm>
            <a:off x="7966570" y="4497189"/>
            <a:ext cx="295268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966570" y="4729063"/>
            <a:ext cx="35699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3"/>
          <p:cNvSpPr/>
          <p:nvPr/>
        </p:nvSpPr>
        <p:spPr>
          <a:xfrm>
            <a:off x="7966570" y="4840982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목표 달성 시작</a:t>
            </a:r>
            <a:endParaRPr lang="ko-KR" sz="1450" dirty="0"/>
          </a:p>
        </p:txBody>
      </p:sp>
      <p:sp>
        <p:nvSpPr>
          <p:cNvPr id="17" name="Text 14"/>
          <p:cNvSpPr/>
          <p:nvPr/>
        </p:nvSpPr>
        <p:spPr>
          <a:xfrm>
            <a:off x="7966570" y="5186958"/>
            <a:ext cx="356990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나만의 건강 여정을 시작하세요</a:t>
            </a:r>
            <a:endParaRPr lang="ko-KR" sz="1150" dirty="0"/>
          </a:p>
        </p:txBody>
      </p:sp>
      <p:sp>
        <p:nvSpPr>
          <p:cNvPr id="18" name="Shape 15"/>
          <p:cNvSpPr/>
          <p:nvPr/>
        </p:nvSpPr>
        <p:spPr>
          <a:xfrm>
            <a:off x="7966570" y="5637808"/>
            <a:ext cx="3569901" cy="491728"/>
          </a:xfrm>
          <a:prstGeom prst="roundRect">
            <a:avLst>
              <a:gd name="adj" fmla="val 12613"/>
            </a:avLst>
          </a:prstGeom>
          <a:solidFill>
            <a:srgbClr val="E1E1EA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204" y="5813227"/>
            <a:ext cx="184542" cy="1476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446380" y="5778500"/>
            <a:ext cx="355204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ko-KR" alt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지금 시작하면 더 건강한 내일이 기다립니다. 🌟</a:t>
            </a:r>
            <a:endParaRPr lang="ko-KR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97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건강 목표 달성 후 추천 음식</a:t>
            </a:r>
            <a:endParaRPr lang="ko-KR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6837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목표 달성을 축하하며, 건강을 유지하고 더욱 활력 넘치는 삶을 위한 영양가 있는 음식들을 소개합니다.</a:t>
            </a:r>
            <a:endParaRPr lang="ko-KR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83420"/>
            <a:ext cx="2009923" cy="20099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5296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💪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단백질 풍부</a:t>
            </a:r>
            <a:endParaRPr lang="ko-KR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9383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근육 유지 및 성장에 필수적이며 포만감을 주어 건강한 체중 관리에 도움을 줍니다.</a:t>
            </a:r>
            <a:endParaRPr lang="ko-KR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283420"/>
            <a:ext cx="2009923" cy="20099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5296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✨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항산화 음식</a:t>
            </a:r>
            <a:endParaRPr lang="ko-KR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9383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세포 손상을 방지하고 면역력을 강화하여 활력 있는 몸을 유지하는 데 기여합니다.</a:t>
            </a:r>
            <a:endParaRPr lang="ko-KR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283420"/>
            <a:ext cx="2009923" cy="20099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452963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🥑</a:t>
            </a: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건강한 지방</a:t>
            </a:r>
            <a:endParaRPr lang="ko-KR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93831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심혈관 건강에 좋고 염증을 줄이며, 필수 영양소 흡수를 돕습니다.</a:t>
            </a:r>
            <a:endParaRPr lang="ko-KR" sz="1450" dirty="0"/>
          </a:p>
        </p:txBody>
      </p:sp>
      <p:sp>
        <p:nvSpPr>
          <p:cNvPr id="13" name="Text 8"/>
          <p:cNvSpPr/>
          <p:nvPr/>
        </p:nvSpPr>
        <p:spPr>
          <a:xfrm>
            <a:off x="356682" y="575577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균형 잡힌 식단으로 건강한 습관을 유지하며 새로운 단계로 나아가세요.</a:t>
            </a:r>
            <a:endParaRPr lang="ko-KR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주간 칼로리 분석 및 추적</a:t>
            </a:r>
            <a:endParaRPr lang="ko-KR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일주일 동안 섭취한 칼로리를 날짜별로 기록하고 분석하여 건강 목표 달성을 돕습니다.</a:t>
            </a:r>
            <a:endParaRPr lang="ko-KR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76027"/>
            <a:ext cx="10868745" cy="60865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7215684"/>
            <a:ext cx="1086874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이번 주 칼로리 섭취량은 일일 목표(2000kcal)와 비교하여 변동성을 보였습니다. 평균 섭취량은 약 2000kcal로 목표에 근접했으나, 토요일(2300kcal)에 가장 높았고 일요일(1700kcal)에 가장 낮았습니다.       이 데이터를 통해 식습관을 점검하고 </a:t>
            </a:r>
            <a:r>
              <a:rPr lang="ko-KR" altLang="en-US" sz="700" dirty="0">
                <a:solidFill>
                  <a:srgbClr val="007B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영양 밸런스 개선</a:t>
            </a:r>
            <a:r>
              <a:rPr lang="ko-KR" alt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을 위한 인사이트를 얻을 수 있습니다.     </a:t>
            </a:r>
            <a:endParaRPr lang="ko-KR" sz="700" dirty="0"/>
          </a:p>
        </p:txBody>
      </p:sp>
      <p:sp>
        <p:nvSpPr>
          <p:cNvPr id="6" name="Shape 3"/>
          <p:cNvSpPr/>
          <p:nvPr/>
        </p:nvSpPr>
        <p:spPr>
          <a:xfrm>
            <a:off x="661475" y="7495580"/>
            <a:ext cx="10868745" cy="250329"/>
          </a:xfrm>
          <a:prstGeom prst="roundRect">
            <a:avLst>
              <a:gd name="adj" fmla="val 15857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29" y="7566422"/>
            <a:ext cx="118067" cy="94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8450" y="7566422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다음 주 개선 팁:</a:t>
            </a:r>
            <a:r>
              <a:rPr lang="ko-KR" alt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불규칙한 칼로리 섭취를 줄이고, 주말 과식을 피하며, 영양 밀도가 높은 식단으로 균형을 맞추세요.       </a:t>
            </a:r>
            <a:endParaRPr lang="ko-KR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63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칼로리별 건강 맛집 추천</a:t>
            </a:r>
            <a:endParaRPr lang="ko-KR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7499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네이버 블로그 평가 기반 추천 맛집들을 칼로리 범위별로 소개합니다.</a:t>
            </a:r>
            <a:endParaRPr lang="ko-KR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90043"/>
            <a:ext cx="3496877" cy="3646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183" y="221853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75881" y="287149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저칼로리 식당 (300-500kcal)</a:t>
            </a:r>
            <a:endParaRPr lang="ko-KR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3280172"/>
            <a:ext cx="3068065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카페지디앤샐러드: 연어포케, 키토식 샐러드 (여의도)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둔내막국수: 메밀 물비빔막국수 (부산 수영)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식물원김밥: 저탄수화물 김밥 (송파 문정)</a:t>
            </a:r>
            <a:endParaRPr lang="ko-KR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90043"/>
            <a:ext cx="3496877" cy="3646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4067" y="221853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61766" y="2871490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중간칼로리 식당 (500-700kcal)</a:t>
            </a:r>
            <a:endParaRPr lang="ko-KR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3575447"/>
            <a:ext cx="3068065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제로밥상: 저당밥 덮밥, 제로설탕 한식 (영등포)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퍼스트플러스에이드: 당근샐러드, 라이스볼 (여의도)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짐키친: 고단백 플레이트 메뉴 (천안 불당)</a:t>
            </a:r>
            <a:endParaRPr lang="ko-KR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090043"/>
            <a:ext cx="3496877" cy="3646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9952" y="221853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247650" y="287149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고단백 식당 (700kcal 이상)</a:t>
            </a:r>
            <a:endParaRPr lang="ko-KR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3280172"/>
            <a:ext cx="3068065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버거킹: 와퍼주니어, 더블와퍼주니어 (단백질 25-28g)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제로밥상 곱빼기: 고기 1.5배 추가 옵션</a:t>
            </a:r>
            <a:endParaRPr lang="ko-KR" sz="1450" dirty="0"/>
          </a:p>
        </p:txBody>
      </p:sp>
      <p:sp>
        <p:nvSpPr>
          <p:cNvPr id="16" name="Text 11"/>
          <p:cNvSpPr/>
          <p:nvPr/>
        </p:nvSpPr>
        <p:spPr>
          <a:xfrm>
            <a:off x="661475" y="594915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각 식당은 칼로리 정보와 영양 밸런스를 고려하여 선택 가능합니다. </a:t>
            </a:r>
            <a:endParaRPr lang="en-US" altLang="ko-KR" sz="14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네이버 블로그 리뷰 기반으로 실제 방문객들의 만족도가 높은 곳들입니다.</a:t>
            </a:r>
            <a:endParaRPr lang="ko-KR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610</Words>
  <Application>Microsoft Office PowerPoint</Application>
  <PresentationFormat>와이드스크린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Raleway</vt:lpstr>
      <vt:lpstr>맑은 고딕</vt:lpstr>
      <vt:lpstr>Roboto</vt:lpstr>
      <vt:lpstr>Arial</vt:lpstr>
      <vt:lpstr>Raleway Light</vt:lpstr>
      <vt:lpstr>Roboto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lastModifiedBy>김하은 2263025</cp:lastModifiedBy>
  <cp:revision>2</cp:revision>
  <dcterms:created xsi:type="dcterms:W3CDTF">2026-09-22T05:40:03Z</dcterms:created>
  <dcterms:modified xsi:type="dcterms:W3CDTF">2026-09-22T05:45:24Z</dcterms:modified>
</cp:coreProperties>
</file>